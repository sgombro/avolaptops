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0" r:id="rId5"/>
    <p:sldId id="258" r:id="rId6"/>
    <p:sldId id="259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7B30"/>
    <a:srgbClr val="426B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ADD1D9-D1AC-6E16-D197-DE859D1B2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8C027E9-99F2-7B1C-B6A6-7DAB72159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65E3032-9B3A-41DE-5D01-514429F52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7778-4F2C-4469-9670-6978CDBE47EC}" type="datetimeFigureOut">
              <a:rPr lang="it-IT" smtClean="0"/>
              <a:t>12/06/2026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0B329DA-C2E1-4105-BA85-202B17E99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626AFF4-C31D-E0A6-A695-746BF8BB3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C3CA7-E0F7-401F-927E-16187E8CE9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3955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B799DA-848F-5388-28B4-07B2DCAF9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C18E97C-769D-2831-855F-048166828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ABF3EE0-6FBB-7176-9229-18BC24804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7778-4F2C-4469-9670-6978CDBE47EC}" type="datetimeFigureOut">
              <a:rPr lang="it-IT" smtClean="0"/>
              <a:t>12/06/2026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C3E24A-6C59-6848-7F04-CA6786EDE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D6D8B5D-3D52-AF91-604F-F8702A9FD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C3CA7-E0F7-401F-927E-16187E8CE9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715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AE2B74-94E1-FF2F-4CB0-C1F326153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F0272EF-4400-E519-35AB-4B3CE483A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D17ABD3-D1C0-9715-8C35-3D32121C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7778-4F2C-4469-9670-6978CDBE47EC}" type="datetimeFigureOut">
              <a:rPr lang="it-IT" smtClean="0"/>
              <a:t>12/06/2026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DF9BC97-9152-454D-0029-53C84A22F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AD427C9-4491-FA27-BBB1-0498F2F69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C3CA7-E0F7-401F-927E-16187E8CE9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0635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A066C8-0910-6BEB-6CEA-38A05D8CF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B4D4729-08DA-930A-CB2F-5B05A921F6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35961C0-B17E-B5C3-2C6C-F8FFF04E3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8DB1288-5FB2-6AD4-5C59-25FFF6AC6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7778-4F2C-4469-9670-6978CDBE47EC}" type="datetimeFigureOut">
              <a:rPr lang="it-IT" smtClean="0"/>
              <a:t>12/06/2026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21D1D86-42E1-620D-5613-DEAFA6803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003FEC0-937E-4D44-0D0A-A914A0AFB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C3CA7-E0F7-401F-927E-16187E8CE9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6437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FD9DA1-ACD3-B995-740B-6F44171E0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64EE24E-3594-8B5A-7D32-8FCD12D8E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76FB484-BAFD-A9E3-CF1F-FC4A99F651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7AF8346-A7AC-46C6-79D4-2982FDF1F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67E2C51-5369-D87D-56E4-63FD8C3DBB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D538340-9652-7C2D-B5EB-B8AED12CB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7778-4F2C-4469-9670-6978CDBE47EC}" type="datetimeFigureOut">
              <a:rPr lang="it-IT" smtClean="0"/>
              <a:t>12/06/2026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29AB770-C41E-3622-2F48-5EE82FBBC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8CF6B62-4CF8-7AFD-0CA4-8B9C1216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C3CA7-E0F7-401F-927E-16187E8CE9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0405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687DEC-2296-2347-CF80-ABB9D94FC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B29E0CC-9ACD-C163-5607-25FA817B4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7778-4F2C-4469-9670-6978CDBE47EC}" type="datetimeFigureOut">
              <a:rPr lang="it-IT" smtClean="0"/>
              <a:t>12/06/2026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B244F62-9E7C-F4B8-C4C3-2191F9388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2008D00-0649-42DF-2C35-74DC6E09C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C3CA7-E0F7-401F-927E-16187E8CE9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4617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04F2A3B-2290-6F60-C29E-3B5D28BC0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7778-4F2C-4469-9670-6978CDBE47EC}" type="datetimeFigureOut">
              <a:rPr lang="it-IT" smtClean="0"/>
              <a:t>12/06/2026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0F3DA91-CBC0-7018-425C-D6C67BAFA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E1F4789-33A6-B044-7F8F-770B6C752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C3CA7-E0F7-401F-927E-16187E8CE9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9449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9A17BF-0D62-6A76-F6E1-A98BCE9CA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C608E0-5858-73F2-092B-EF04CE9DF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3942723-6033-A9FF-3EE1-58E6CFA1B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F8A2FCB-E0BD-C0AB-851C-521185196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7778-4F2C-4469-9670-6978CDBE47EC}" type="datetimeFigureOut">
              <a:rPr lang="it-IT" smtClean="0"/>
              <a:t>12/06/2026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467E765-6FCD-B609-26D3-636789EE0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C8CAC54-24DF-28CD-937C-CBA4FA59D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C3CA7-E0F7-401F-927E-16187E8CE9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5775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9B1EB6-C344-E30A-CC1C-F3262D5F4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A61266D-88FE-28B0-4E99-F1DA8E8D8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4E04CC7-731A-C462-0291-991A18BF7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6D4E796-0FDD-6FF8-467B-D73DB2625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7778-4F2C-4469-9670-6978CDBE47EC}" type="datetimeFigureOut">
              <a:rPr lang="it-IT" smtClean="0"/>
              <a:t>12/06/2026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B99677C-A2BB-8EA1-7C68-D39533345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0E0B9CE-D418-6E29-F694-0FA91DBE2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C3CA7-E0F7-401F-927E-16187E8CE9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6958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668CC2-8E94-FA88-2D72-7EACF24A5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6B8CD10-EB58-63EC-D599-21B6F0590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D90A6F3-DFE9-8304-E767-0F5E4C588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7778-4F2C-4469-9670-6978CDBE47EC}" type="datetimeFigureOut">
              <a:rPr lang="it-IT" smtClean="0"/>
              <a:t>12/06/2026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0B36D55-4451-6165-13EF-672CF11DA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8F53084-9E6D-028E-50D3-84B11938B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C3CA7-E0F7-401F-927E-16187E8CE9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74459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1231886-2189-A489-24C8-61E3769461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43D78BD-8145-93B6-50E1-B7A2268ABD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1965D51-304C-4304-3164-8B8A1AB4B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7778-4F2C-4469-9670-6978CDBE47EC}" type="datetimeFigureOut">
              <a:rPr lang="it-IT" smtClean="0"/>
              <a:t>12/06/2026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880B6E2-3FB8-CCE7-208C-04B25B0E1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3F1772C-B12E-92AE-30FB-2C5CBA25B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C3CA7-E0F7-401F-927E-16187E8CE9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5634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DF6B5AC-2C97-464D-D4BA-7E1BBE3C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E8F0B5F-E7C1-C835-E0E0-F88739B79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5B79910-2769-603B-67B8-E598F4ACF6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27778-4F2C-4469-9670-6978CDBE47EC}" type="datetimeFigureOut">
              <a:rPr lang="it-IT" smtClean="0"/>
              <a:t>12/06/2026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E70CDC3-EA5C-81EB-57D4-6BFBA7AA5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BB9BD97-B6D6-237A-79F5-2BB575157E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C3CA7-E0F7-401F-927E-16187E8CE9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943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197E48-A515-5A9F-74F6-B0E7FAE337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 err="1"/>
              <a:t>AvoLaptops</a:t>
            </a:r>
            <a:r>
              <a:rPr lang="it-IT" b="1" dirty="0"/>
              <a:t> API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1B49A07-1449-1132-4180-D64CE03FCE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b="1" dirty="0"/>
              <a:t>Autore: Ramli Adam</a:t>
            </a: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0C315D-EFDC-D89C-A6D3-0F60A086B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3338" y="5097463"/>
            <a:ext cx="2943225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8298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335A6E-42A3-47F3-6296-B79A2EEA2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solidFill>
                  <a:srgbClr val="FF0000"/>
                </a:solidFill>
              </a:rPr>
              <a:t>Abstract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D88059A-1909-ABFE-F2B2-336937003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14850" cy="4351338"/>
          </a:xfrm>
        </p:spPr>
        <p:txBody>
          <a:bodyPr>
            <a:normAutofit lnSpcReduction="10000"/>
          </a:bodyPr>
          <a:lstStyle/>
          <a:p>
            <a:r>
              <a:rPr lang="it-IT" b="1" dirty="0" err="1"/>
              <a:t>AvoLaptop</a:t>
            </a:r>
            <a:r>
              <a:rPr lang="it-IT" dirty="0"/>
              <a:t> è un </a:t>
            </a:r>
            <a:r>
              <a:rPr lang="it-IT" b="1" dirty="0"/>
              <a:t>progetto</a:t>
            </a:r>
            <a:r>
              <a:rPr lang="it-IT" dirty="0"/>
              <a:t> che mira a rendere la prenotazione dei </a:t>
            </a:r>
            <a:r>
              <a:rPr lang="it-IT" b="1" dirty="0"/>
              <a:t>PC</a:t>
            </a:r>
            <a:r>
              <a:rPr lang="it-IT" dirty="0"/>
              <a:t> </a:t>
            </a:r>
            <a:r>
              <a:rPr lang="it-IT" b="1" dirty="0"/>
              <a:t>portatili</a:t>
            </a:r>
            <a:r>
              <a:rPr lang="it-IT" dirty="0"/>
              <a:t> un processo attuabile da remoto utilizzando una </a:t>
            </a:r>
            <a:r>
              <a:rPr lang="it-IT" b="1" dirty="0"/>
              <a:t>piattaforma</a:t>
            </a:r>
            <a:r>
              <a:rPr lang="it-IT" dirty="0"/>
              <a:t> </a:t>
            </a:r>
            <a:r>
              <a:rPr lang="it-IT" b="1" dirty="0"/>
              <a:t>Web</a:t>
            </a:r>
            <a:r>
              <a:rPr lang="it-IT" dirty="0"/>
              <a:t> o </a:t>
            </a:r>
            <a:r>
              <a:rPr lang="it-IT" b="1" dirty="0"/>
              <a:t>Android</a:t>
            </a:r>
            <a:r>
              <a:rPr lang="it-IT" dirty="0"/>
              <a:t>.</a:t>
            </a:r>
          </a:p>
          <a:p>
            <a:r>
              <a:rPr lang="it-IT" dirty="0" err="1"/>
              <a:t>AvoLaptop</a:t>
            </a:r>
            <a:r>
              <a:rPr lang="it-IT" dirty="0"/>
              <a:t> è </a:t>
            </a:r>
            <a:r>
              <a:rPr lang="it-IT" b="1" dirty="0"/>
              <a:t>interoperabile</a:t>
            </a:r>
            <a:r>
              <a:rPr lang="it-IT" dirty="0"/>
              <a:t> su tutti i dispositivi con l’uso dell’</a:t>
            </a:r>
            <a:r>
              <a:rPr lang="it-IT" b="1" dirty="0"/>
              <a:t>API REST</a:t>
            </a:r>
            <a:r>
              <a:rPr lang="it-IT" dirty="0"/>
              <a:t>. Utilizza PHP come </a:t>
            </a:r>
            <a:r>
              <a:rPr lang="it-IT" dirty="0" err="1"/>
              <a:t>backend</a:t>
            </a:r>
            <a:r>
              <a:rPr lang="it-IT" dirty="0"/>
              <a:t>.</a:t>
            </a:r>
          </a:p>
        </p:txBody>
      </p:sp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F315BF22-1F7B-6112-2B8D-7DEBB1DA0F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0350" y="1825625"/>
            <a:ext cx="3797300" cy="379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12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D2DF2-C75C-FCDD-31B2-1F8D97E77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8E5498-720F-FE3F-5CCE-2784D9CC1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solidFill>
                  <a:srgbClr val="FF0000"/>
                </a:solidFill>
              </a:rPr>
              <a:t>Abstract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62B2B11-E41F-B095-0805-753B320F2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Gli utenti sono divisi in: </a:t>
            </a:r>
            <a:r>
              <a:rPr lang="it-IT" b="1" dirty="0"/>
              <a:t>admins</a:t>
            </a:r>
            <a:r>
              <a:rPr lang="it-IT" dirty="0"/>
              <a:t> (docenti oppure gestori del progetto) e </a:t>
            </a:r>
            <a:r>
              <a:rPr lang="it-IT" b="1" dirty="0" err="1"/>
              <a:t>teachers</a:t>
            </a:r>
            <a:r>
              <a:rPr lang="it-IT" dirty="0"/>
              <a:t>. </a:t>
            </a:r>
          </a:p>
          <a:p>
            <a:r>
              <a:rPr lang="it-IT" dirty="0"/>
              <a:t>La prenotazione è possibile solo tramite </a:t>
            </a:r>
            <a:r>
              <a:rPr lang="it-IT" b="1" dirty="0"/>
              <a:t>Account Istituzionali </a:t>
            </a:r>
            <a:r>
              <a:rPr lang="it-IT" dirty="0"/>
              <a:t>di docenti con il dominio </a:t>
            </a:r>
            <a:r>
              <a:rPr lang="it-IT" b="1" dirty="0"/>
              <a:t>itisavogadro.it</a:t>
            </a:r>
            <a:r>
              <a:rPr lang="it-IT" dirty="0"/>
              <a:t>. Gli amministratori possono accedere solo se il loro account è stato approvato da un altro amministratore.</a:t>
            </a:r>
          </a:p>
          <a:p>
            <a:r>
              <a:rPr lang="it-IT" dirty="0"/>
              <a:t>Il docente deve selezionare </a:t>
            </a:r>
            <a:r>
              <a:rPr lang="it-IT" b="1" dirty="0"/>
              <a:t>una fascia oraria</a:t>
            </a:r>
            <a:r>
              <a:rPr lang="it-IT" dirty="0"/>
              <a:t> per cui prenota una serie di </a:t>
            </a:r>
            <a:r>
              <a:rPr lang="it-IT" b="1" dirty="0"/>
              <a:t>PC</a:t>
            </a:r>
            <a:r>
              <a:rPr lang="it-IT" dirty="0"/>
              <a:t> che sono presentati con le </a:t>
            </a:r>
            <a:r>
              <a:rPr lang="it-IT" b="1" dirty="0"/>
              <a:t>caratteristiche tecniche generali</a:t>
            </a:r>
            <a:r>
              <a:rPr lang="it-IT" dirty="0"/>
              <a:t>.  Ogni </a:t>
            </a:r>
            <a:r>
              <a:rPr lang="it-IT" b="1" dirty="0"/>
              <a:t>portatile</a:t>
            </a:r>
            <a:r>
              <a:rPr lang="it-IT" dirty="0"/>
              <a:t> è </a:t>
            </a:r>
            <a:r>
              <a:rPr lang="it-IT" b="1" dirty="0"/>
              <a:t>custodito</a:t>
            </a:r>
            <a:r>
              <a:rPr lang="it-IT" dirty="0"/>
              <a:t> in un luogo che per generalizzazione è definito Locker.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53188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B155F0-B3C0-194A-AFAA-1757B077C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E/R</a:t>
            </a:r>
          </a:p>
        </p:txBody>
      </p:sp>
      <p:pic>
        <p:nvPicPr>
          <p:cNvPr id="11" name="Segnaposto contenuto 10">
            <a:extLst>
              <a:ext uri="{FF2B5EF4-FFF2-40B4-BE49-F238E27FC236}">
                <a16:creationId xmlns:a16="http://schemas.microsoft.com/office/drawing/2014/main" id="{28E06358-200E-352D-90E4-2E959FA02A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404" y="1296318"/>
            <a:ext cx="6933540" cy="519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947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29E65F-E48F-318E-AAA4-4FCBB0E18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/>
              <a:t>Schema logico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1D9BA8A0-B3F8-4842-5274-08B51CA3E8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287" y="1825625"/>
            <a:ext cx="958542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376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D2E334-11A5-4C8D-BA5F-937539C1B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Casi d’uso</a:t>
            </a:r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90F4F905-2C7E-F13D-3D44-E029EEB8F1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3" r="1371" b="54693"/>
          <a:stretch>
            <a:fillRect/>
          </a:stretch>
        </p:blipFill>
        <p:spPr>
          <a:xfrm>
            <a:off x="911686" y="1562669"/>
            <a:ext cx="5192165" cy="4804012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5957A661-82F9-76F8-E921-26AC4A4FEB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13"/>
          <a:stretch>
            <a:fillRect/>
          </a:stretch>
        </p:blipFill>
        <p:spPr>
          <a:xfrm>
            <a:off x="6425498" y="1214651"/>
            <a:ext cx="4152210" cy="542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412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D7F38F-0ED3-95C9-0345-D7F411EDF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Esecuzione del login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10C6ECAF-F5C5-DC04-BAC1-39AE62DBC1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5254" y="1825625"/>
            <a:ext cx="1022149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237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92C413-898A-A304-E806-ACEF359C9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Esecuzione di una prenotazione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3A3C1945-35D3-6D73-BE53-E216919663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9146"/>
          <a:stretch>
            <a:fillRect/>
          </a:stretch>
        </p:blipFill>
        <p:spPr>
          <a:xfrm>
            <a:off x="939800" y="1387474"/>
            <a:ext cx="5429250" cy="535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090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F2E9D0-3526-A612-5ADC-9D0ACFDBC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Query della prenotazione 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6C4F96B9-3FFD-4DFE-D1B9-8CA32C2C2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22" y="1386133"/>
            <a:ext cx="8376224" cy="4398717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A032D76-AEB7-9F53-8EB4-E8E78C8F0F3D}"/>
              </a:ext>
            </a:extLst>
          </p:cNvPr>
          <p:cNvSpPr txBox="1"/>
          <p:nvPr/>
        </p:nvSpPr>
        <p:spPr>
          <a:xfrm>
            <a:off x="9355310" y="1101864"/>
            <a:ext cx="283669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426BB3"/>
                </a:solidFill>
              </a:rPr>
              <a:t>"query": </a:t>
            </a:r>
            <a:r>
              <a:rPr lang="it-IT" dirty="0">
                <a:solidFill>
                  <a:srgbClr val="C97B30"/>
                </a:solidFill>
              </a:rPr>
              <a:t>"SELECT </a:t>
            </a:r>
            <a:r>
              <a:rPr lang="it-IT" dirty="0" err="1">
                <a:solidFill>
                  <a:srgbClr val="C97B30"/>
                </a:solidFill>
              </a:rPr>
              <a:t>r.id_reservation</a:t>
            </a:r>
            <a:r>
              <a:rPr lang="it-IT" dirty="0">
                <a:solidFill>
                  <a:srgbClr val="C97B30"/>
                </a:solidFill>
              </a:rPr>
              <a:t>, </a:t>
            </a:r>
            <a:r>
              <a:rPr lang="it-IT" dirty="0" err="1">
                <a:solidFill>
                  <a:srgbClr val="C97B30"/>
                </a:solidFill>
              </a:rPr>
              <a:t>r.date</a:t>
            </a:r>
            <a:r>
              <a:rPr lang="it-IT" dirty="0">
                <a:solidFill>
                  <a:srgbClr val="C97B30"/>
                </a:solidFill>
              </a:rPr>
              <a:t>, </a:t>
            </a:r>
            <a:r>
              <a:rPr lang="it-IT" dirty="0" err="1">
                <a:solidFill>
                  <a:srgbClr val="C97B30"/>
                </a:solidFill>
              </a:rPr>
              <a:t>r.time_start</a:t>
            </a:r>
            <a:r>
              <a:rPr lang="it-IT" dirty="0">
                <a:solidFill>
                  <a:srgbClr val="C97B30"/>
                </a:solidFill>
              </a:rPr>
              <a:t>, </a:t>
            </a:r>
            <a:r>
              <a:rPr lang="it-IT" dirty="0" err="1">
                <a:solidFill>
                  <a:srgbClr val="C97B30"/>
                </a:solidFill>
              </a:rPr>
              <a:t>r.time_end</a:t>
            </a:r>
            <a:r>
              <a:rPr lang="it-IT" dirty="0">
                <a:solidFill>
                  <a:srgbClr val="C97B30"/>
                </a:solidFill>
              </a:rPr>
              <a:t>, </a:t>
            </a:r>
            <a:r>
              <a:rPr lang="it-IT" dirty="0" err="1">
                <a:solidFill>
                  <a:srgbClr val="C97B30"/>
                </a:solidFill>
              </a:rPr>
              <a:t>r.status</a:t>
            </a:r>
            <a:r>
              <a:rPr lang="it-IT" dirty="0">
                <a:solidFill>
                  <a:srgbClr val="C97B30"/>
                </a:solidFill>
              </a:rPr>
              <a:t>, </a:t>
            </a:r>
            <a:r>
              <a:rPr lang="it-IT" dirty="0" err="1">
                <a:solidFill>
                  <a:srgbClr val="C97B30"/>
                </a:solidFill>
              </a:rPr>
              <a:t>r.class</a:t>
            </a:r>
            <a:r>
              <a:rPr lang="it-IT" dirty="0">
                <a:solidFill>
                  <a:srgbClr val="C97B30"/>
                </a:solidFill>
              </a:rPr>
              <a:t>, </a:t>
            </a:r>
            <a:r>
              <a:rPr lang="it-IT" dirty="0" err="1">
                <a:solidFill>
                  <a:srgbClr val="C97B30"/>
                </a:solidFill>
              </a:rPr>
              <a:t>r.classroom</a:t>
            </a:r>
            <a:r>
              <a:rPr lang="it-IT" dirty="0">
                <a:solidFill>
                  <a:srgbClr val="C97B30"/>
                </a:solidFill>
              </a:rPr>
              <a:t>, </a:t>
            </a:r>
            <a:r>
              <a:rPr lang="it-IT" dirty="0" err="1">
                <a:solidFill>
                  <a:srgbClr val="C97B30"/>
                </a:solidFill>
              </a:rPr>
              <a:t>u.id_user</a:t>
            </a:r>
            <a:r>
              <a:rPr lang="it-IT" dirty="0">
                <a:solidFill>
                  <a:srgbClr val="C97B30"/>
                </a:solidFill>
              </a:rPr>
              <a:t>, u.name, </a:t>
            </a:r>
            <a:r>
              <a:rPr lang="it-IT" dirty="0" err="1">
                <a:solidFill>
                  <a:srgbClr val="C97B30"/>
                </a:solidFill>
              </a:rPr>
              <a:t>u.surname</a:t>
            </a:r>
            <a:r>
              <a:rPr lang="it-IT" dirty="0">
                <a:solidFill>
                  <a:srgbClr val="C97B30"/>
                </a:solidFill>
              </a:rPr>
              <a:t>, </a:t>
            </a:r>
            <a:r>
              <a:rPr lang="it-IT" dirty="0" err="1">
                <a:solidFill>
                  <a:srgbClr val="C97B30"/>
                </a:solidFill>
              </a:rPr>
              <a:t>u.email</a:t>
            </a:r>
            <a:r>
              <a:rPr lang="it-IT" dirty="0">
                <a:solidFill>
                  <a:srgbClr val="C97B30"/>
                </a:solidFill>
              </a:rPr>
              <a:t>, </a:t>
            </a:r>
            <a:r>
              <a:rPr lang="it-IT" dirty="0" err="1">
                <a:solidFill>
                  <a:srgbClr val="C97B30"/>
                </a:solidFill>
              </a:rPr>
              <a:t>u.role</a:t>
            </a:r>
            <a:r>
              <a:rPr lang="it-IT" dirty="0">
                <a:solidFill>
                  <a:srgbClr val="C97B30"/>
                </a:solidFill>
              </a:rPr>
              <a:t>, </a:t>
            </a:r>
            <a:r>
              <a:rPr lang="it-IT" dirty="0" err="1">
                <a:solidFill>
                  <a:srgbClr val="C97B30"/>
                </a:solidFill>
              </a:rPr>
              <a:t>laptops.id_laptop</a:t>
            </a:r>
            <a:r>
              <a:rPr lang="it-IT" dirty="0">
                <a:solidFill>
                  <a:srgbClr val="C97B30"/>
                </a:solidFill>
              </a:rPr>
              <a:t>, m.*, l.* from </a:t>
            </a:r>
            <a:r>
              <a:rPr lang="it-IT" dirty="0" err="1">
                <a:solidFill>
                  <a:srgbClr val="C97B30"/>
                </a:solidFill>
              </a:rPr>
              <a:t>reservations</a:t>
            </a:r>
            <a:r>
              <a:rPr lang="it-IT" dirty="0">
                <a:solidFill>
                  <a:srgbClr val="C97B30"/>
                </a:solidFill>
              </a:rPr>
              <a:t> r</a:t>
            </a:r>
          </a:p>
          <a:p>
            <a:r>
              <a:rPr lang="it-IT" dirty="0">
                <a:solidFill>
                  <a:srgbClr val="C97B30"/>
                </a:solidFill>
              </a:rPr>
              <a:t>INNER JOIN laptops ON </a:t>
            </a:r>
            <a:r>
              <a:rPr lang="it-IT" dirty="0" err="1">
                <a:solidFill>
                  <a:srgbClr val="C97B30"/>
                </a:solidFill>
              </a:rPr>
              <a:t>laptops.id_laptop</a:t>
            </a:r>
            <a:r>
              <a:rPr lang="it-IT" dirty="0">
                <a:solidFill>
                  <a:srgbClr val="C97B30"/>
                </a:solidFill>
              </a:rPr>
              <a:t> = </a:t>
            </a:r>
            <a:r>
              <a:rPr lang="it-IT" dirty="0" err="1">
                <a:solidFill>
                  <a:srgbClr val="C97B30"/>
                </a:solidFill>
              </a:rPr>
              <a:t>r.id_laptop</a:t>
            </a:r>
            <a:endParaRPr lang="it-IT" dirty="0">
              <a:solidFill>
                <a:srgbClr val="C97B30"/>
              </a:solidFill>
            </a:endParaRPr>
          </a:p>
          <a:p>
            <a:r>
              <a:rPr lang="it-IT" dirty="0">
                <a:solidFill>
                  <a:srgbClr val="C97B30"/>
                </a:solidFill>
              </a:rPr>
              <a:t>INNER JOIN models m ON </a:t>
            </a:r>
            <a:r>
              <a:rPr lang="it-IT" dirty="0" err="1">
                <a:solidFill>
                  <a:srgbClr val="C97B30"/>
                </a:solidFill>
              </a:rPr>
              <a:t>laptops.id_model</a:t>
            </a:r>
            <a:r>
              <a:rPr lang="it-IT" dirty="0">
                <a:solidFill>
                  <a:srgbClr val="C97B30"/>
                </a:solidFill>
              </a:rPr>
              <a:t> = </a:t>
            </a:r>
            <a:r>
              <a:rPr lang="it-IT" dirty="0" err="1">
                <a:solidFill>
                  <a:srgbClr val="C97B30"/>
                </a:solidFill>
              </a:rPr>
              <a:t>m.id_model</a:t>
            </a:r>
            <a:r>
              <a:rPr lang="it-IT" dirty="0">
                <a:solidFill>
                  <a:srgbClr val="C97B30"/>
                </a:solidFill>
              </a:rPr>
              <a:t> </a:t>
            </a:r>
          </a:p>
          <a:p>
            <a:r>
              <a:rPr lang="it-IT" dirty="0">
                <a:solidFill>
                  <a:srgbClr val="C97B30"/>
                </a:solidFill>
              </a:rPr>
              <a:t>INNER JOIN </a:t>
            </a:r>
            <a:r>
              <a:rPr lang="it-IT" dirty="0" err="1">
                <a:solidFill>
                  <a:srgbClr val="C97B30"/>
                </a:solidFill>
              </a:rPr>
              <a:t>lockers</a:t>
            </a:r>
            <a:r>
              <a:rPr lang="it-IT" dirty="0">
                <a:solidFill>
                  <a:srgbClr val="C97B30"/>
                </a:solidFill>
              </a:rPr>
              <a:t> l ON </a:t>
            </a:r>
            <a:r>
              <a:rPr lang="it-IT" dirty="0" err="1">
                <a:solidFill>
                  <a:srgbClr val="C97B30"/>
                </a:solidFill>
              </a:rPr>
              <a:t>laptops.id_locker</a:t>
            </a:r>
            <a:r>
              <a:rPr lang="it-IT" dirty="0">
                <a:solidFill>
                  <a:srgbClr val="C97B30"/>
                </a:solidFill>
              </a:rPr>
              <a:t> = </a:t>
            </a:r>
            <a:r>
              <a:rPr lang="it-IT" dirty="0" err="1">
                <a:solidFill>
                  <a:srgbClr val="C97B30"/>
                </a:solidFill>
              </a:rPr>
              <a:t>l.id_locker</a:t>
            </a:r>
            <a:endParaRPr lang="it-IT" dirty="0">
              <a:solidFill>
                <a:srgbClr val="C97B30"/>
              </a:solidFill>
            </a:endParaRPr>
          </a:p>
          <a:p>
            <a:r>
              <a:rPr lang="it-IT" dirty="0">
                <a:solidFill>
                  <a:srgbClr val="C97B30"/>
                </a:solidFill>
              </a:rPr>
              <a:t>INNER JOIN users u ON </a:t>
            </a:r>
            <a:r>
              <a:rPr lang="it-IT" dirty="0" err="1">
                <a:solidFill>
                  <a:srgbClr val="C97B30"/>
                </a:solidFill>
              </a:rPr>
              <a:t>u.id_user</a:t>
            </a:r>
            <a:r>
              <a:rPr lang="it-IT" dirty="0">
                <a:solidFill>
                  <a:srgbClr val="C97B30"/>
                </a:solidFill>
              </a:rPr>
              <a:t> = </a:t>
            </a:r>
            <a:r>
              <a:rPr lang="it-IT" dirty="0" err="1">
                <a:solidFill>
                  <a:srgbClr val="C97B30"/>
                </a:solidFill>
              </a:rPr>
              <a:t>r.id_user</a:t>
            </a:r>
            <a:r>
              <a:rPr lang="it-IT" dirty="0">
                <a:solidFill>
                  <a:srgbClr val="C97B30"/>
                </a:solidFill>
              </a:rPr>
              <a:t> WHERE </a:t>
            </a:r>
            <a:r>
              <a:rPr lang="it-IT" dirty="0" err="1">
                <a:solidFill>
                  <a:srgbClr val="C97B30"/>
                </a:solidFill>
              </a:rPr>
              <a:t>id_reservation</a:t>
            </a:r>
            <a:r>
              <a:rPr lang="it-IT" dirty="0">
                <a:solidFill>
                  <a:srgbClr val="C97B30"/>
                </a:solidFill>
              </a:rPr>
              <a:t> = ? "</a:t>
            </a:r>
          </a:p>
        </p:txBody>
      </p:sp>
    </p:spTree>
    <p:extLst>
      <p:ext uri="{BB962C8B-B14F-4D97-AF65-F5344CB8AC3E}">
        <p14:creationId xmlns:p14="http://schemas.microsoft.com/office/powerpoint/2010/main" val="8631555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299</Words>
  <Application>Microsoft Office PowerPoint</Application>
  <PresentationFormat>Widescreen</PresentationFormat>
  <Paragraphs>20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di Office</vt:lpstr>
      <vt:lpstr>AvoLaptops API</vt:lpstr>
      <vt:lpstr>Abstract</vt:lpstr>
      <vt:lpstr>Abstract</vt:lpstr>
      <vt:lpstr>E/R</vt:lpstr>
      <vt:lpstr>Schema logico</vt:lpstr>
      <vt:lpstr>Casi d’uso</vt:lpstr>
      <vt:lpstr>Esecuzione del login</vt:lpstr>
      <vt:lpstr>Esecuzione di una prenotazione</vt:lpstr>
      <vt:lpstr>Query della prenotazione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Ramli</dc:creator>
  <cp:lastModifiedBy>Adam Ramli</cp:lastModifiedBy>
  <cp:revision>3</cp:revision>
  <dcterms:created xsi:type="dcterms:W3CDTF">2026-05-17T20:26:44Z</dcterms:created>
  <dcterms:modified xsi:type="dcterms:W3CDTF">2026-06-12T09:25:00Z</dcterms:modified>
</cp:coreProperties>
</file>